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0C831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3232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Personal Care</c:v>
                </c:pt>
                <c:pt idx="1">
                  <c:v>Baby Care</c:v>
                </c:pt>
                <c:pt idx="2">
                  <c:v>Fruits &amp; Veg</c:v>
                </c:pt>
                <c:pt idx="3">
                  <c:v>Frozen Food</c:v>
                </c:pt>
                <c:pt idx="4">
                  <c:v>Beverages</c:v>
                </c:pt>
                <c:pt idx="5">
                  <c:v>Snacks</c:v>
                </c:pt>
                <c:pt idx="6">
                  <c:v>Bakery</c:v>
                </c:pt>
                <c:pt idx="7">
                  <c:v>Household</c:v>
                </c:pt>
                <c:pt idx="8">
                  <c:v>Dairy &amp; Breakfast</c:v>
                </c:pt>
                <c:pt idx="9">
                  <c:v>Staples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100.09</c:v>
                </c:pt>
                <c:pt idx="1">
                  <c:v>99.99</c:v>
                </c:pt>
                <c:pt idx="2">
                  <c:v>97.87</c:v>
                </c:pt>
                <c:pt idx="3">
                  <c:v>97.74</c:v>
                </c:pt>
                <c:pt idx="4">
                  <c:v>97.33</c:v>
                </c:pt>
                <c:pt idx="5">
                  <c:v>96.83</c:v>
                </c:pt>
                <c:pt idx="6">
                  <c:v>96.63</c:v>
                </c:pt>
                <c:pt idx="7">
                  <c:v>96.4</c:v>
                </c:pt>
                <c:pt idx="8">
                  <c:v>94.88</c:v>
                </c:pt>
                <c:pt idx="9">
                  <c:v>93.11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CD-4C62-9BA5-68AEA64A83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3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1B1B1B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Hyderabad</c:v>
                </c:pt>
                <c:pt idx="1">
                  <c:v>Pune</c:v>
                </c:pt>
                <c:pt idx="2">
                  <c:v>Jaipur</c:v>
                </c:pt>
                <c:pt idx="3">
                  <c:v>Ahmedabad</c:v>
                </c:pt>
                <c:pt idx="4">
                  <c:v>Mumbai</c:v>
                </c:pt>
                <c:pt idx="5">
                  <c:v>Delhi</c:v>
                </c:pt>
                <c:pt idx="6">
                  <c:v>Bengaluru</c:v>
                </c:pt>
                <c:pt idx="7">
                  <c:v>Kolkata</c:v>
                </c:pt>
                <c:pt idx="8">
                  <c:v>Nashik</c:v>
                </c:pt>
                <c:pt idx="9">
                  <c:v>Lucknow</c:v>
                </c:pt>
                <c:pt idx="10">
                  <c:v>Chennai</c:v>
                </c:pt>
                <c:pt idx="11">
                  <c:v>Surat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84.17</c:v>
                </c:pt>
                <c:pt idx="1">
                  <c:v>83.33</c:v>
                </c:pt>
                <c:pt idx="2">
                  <c:v>82.97</c:v>
                </c:pt>
                <c:pt idx="3">
                  <c:v>82.05</c:v>
                </c:pt>
                <c:pt idx="4">
                  <c:v>82</c:v>
                </c:pt>
                <c:pt idx="5">
                  <c:v>80.86</c:v>
                </c:pt>
                <c:pt idx="6">
                  <c:v>80.08</c:v>
                </c:pt>
                <c:pt idx="7">
                  <c:v>79.900000000000006</c:v>
                </c:pt>
                <c:pt idx="8">
                  <c:v>79.88</c:v>
                </c:pt>
                <c:pt idx="9">
                  <c:v>78.87</c:v>
                </c:pt>
                <c:pt idx="10">
                  <c:v>78.55</c:v>
                </c:pt>
                <c:pt idx="11">
                  <c:v>78.22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83-4E3D-AD8D-061412EE52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2323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83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240-45FA-8558-A58CB8442472}"/>
              </c:ext>
            </c:extLst>
          </c:dPt>
          <c:dPt>
            <c:idx val="1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40-45FA-8558-A58CB8442472}"/>
              </c:ext>
            </c:extLst>
          </c:dPt>
          <c:dPt>
            <c:idx val="2"/>
            <c:bubble3D val="0"/>
            <c:spPr>
              <a:solidFill>
                <a:srgbClr val="9A9A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240-45FA-8558-A58CB8442472}"/>
              </c:ext>
            </c:extLst>
          </c:dPt>
          <c:dPt>
            <c:idx val="3"/>
            <c:bubble3D val="0"/>
            <c:spPr>
              <a:solidFill>
                <a:srgbClr val="1B1B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240-45FA-8558-A58CB8442472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240-45FA-8558-A58CB8442472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240-45FA-8558-A58CB8442472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40-45FA-8558-A58CB8442472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240-45FA-8558-A58CB8442472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Delivered</c:v>
                </c:pt>
                <c:pt idx="1">
                  <c:v>Returned</c:v>
                </c:pt>
                <c:pt idx="2">
                  <c:v>Delayed</c:v>
                </c:pt>
                <c:pt idx="3">
                  <c:v>Cancelled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56.96</c:v>
                </c:pt>
                <c:pt idx="1">
                  <c:v>14.49</c:v>
                </c:pt>
                <c:pt idx="2">
                  <c:v>14.28</c:v>
                </c:pt>
                <c:pt idx="3">
                  <c:v>14.27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240-45FA-8558-A58CB84424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3232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32323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232323"/>
                </a:solidFill>
                <a:latin typeface="Calibri"/>
              </a:rPr>
              <a:t>Payment Method Share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Method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83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E24-4C56-930D-4DDDD2482B1D}"/>
              </c:ext>
            </c:extLst>
          </c:dPt>
          <c:dPt>
            <c:idx val="1"/>
            <c:bubble3D val="0"/>
            <c:spPr>
              <a:solidFill>
                <a:srgbClr val="1B1B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E24-4C56-930D-4DDDD2482B1D}"/>
              </c:ext>
            </c:extLst>
          </c:dPt>
          <c:dPt>
            <c:idx val="2"/>
            <c:bubble3D val="0"/>
            <c:spPr>
              <a:solidFill>
                <a:srgbClr val="F8CB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E24-4C56-930D-4DDDD2482B1D}"/>
              </c:ext>
            </c:extLst>
          </c:dPt>
          <c:dPt>
            <c:idx val="3"/>
            <c:bubble3D val="0"/>
            <c:spPr>
              <a:solidFill>
                <a:srgbClr val="9A9A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E24-4C56-930D-4DDDD2482B1D}"/>
              </c:ext>
            </c:extLst>
          </c:dPt>
          <c:dPt>
            <c:idx val="4"/>
            <c:bubble3D val="0"/>
            <c:spPr>
              <a:solidFill>
                <a:srgbClr val="D9D9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E24-4C56-930D-4DDDD2482B1D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E24-4C56-930D-4DDDD2482B1D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E24-4C56-930D-4DDDD2482B1D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E24-4C56-930D-4DDDD2482B1D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E24-4C56-930D-4DDDD2482B1D}"/>
                </c:ext>
              </c:extLst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E24-4C56-930D-4DDDD2482B1D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UPI</c:v>
                </c:pt>
                <c:pt idx="1">
                  <c:v>Cash on Delivery</c:v>
                </c:pt>
                <c:pt idx="2">
                  <c:v>Credit Card</c:v>
                </c:pt>
                <c:pt idx="3">
                  <c:v>Debit Card</c:v>
                </c:pt>
                <c:pt idx="4">
                  <c:v>Wallet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39.799999999999997</c:v>
                </c:pt>
                <c:pt idx="1">
                  <c:v>20.3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E24-4C56-930D-4DDDD2482B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>
              <a:solidFill>
                <a:srgbClr val="23232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32323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32323"/>
                </a:solidFill>
                <a:latin typeface="Calibri"/>
              </a:rPr>
              <a:t>Revenue by Age Group (₹ Lakh)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1B1B1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&lt;18</c:v>
                </c:pt>
                <c:pt idx="1">
                  <c:v>18-25</c:v>
                </c:pt>
                <c:pt idx="2">
                  <c:v>26-35</c:v>
                </c:pt>
                <c:pt idx="3">
                  <c:v>36-45</c:v>
                </c:pt>
                <c:pt idx="4">
                  <c:v>46-55</c:v>
                </c:pt>
                <c:pt idx="5">
                  <c:v>55+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20.7</c:v>
                </c:pt>
                <c:pt idx="1">
                  <c:v>145.30000000000001</c:v>
                </c:pt>
                <c:pt idx="2">
                  <c:v>204</c:v>
                </c:pt>
                <c:pt idx="3">
                  <c:v>204</c:v>
                </c:pt>
                <c:pt idx="4">
                  <c:v>209.2</c:v>
                </c:pt>
                <c:pt idx="5">
                  <c:v>187.7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73-4F96-B6C1-9C3A330441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3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(₹ Lakh)</c:v>
                </c:pt>
              </c:strCache>
            </c:strRef>
          </c:tx>
          <c:spPr>
            <a:solidFill>
              <a:srgbClr val="F8CB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3232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Personal Care</c:v>
                </c:pt>
                <c:pt idx="1">
                  <c:v>Baby Care</c:v>
                </c:pt>
                <c:pt idx="2">
                  <c:v>Fruits &amp; Veg</c:v>
                </c:pt>
                <c:pt idx="3">
                  <c:v>Frozen Food</c:v>
                </c:pt>
                <c:pt idx="4">
                  <c:v>Snacks</c:v>
                </c:pt>
                <c:pt idx="5">
                  <c:v>Dairy &amp; Breakfast</c:v>
                </c:pt>
                <c:pt idx="6">
                  <c:v>Beverages</c:v>
                </c:pt>
                <c:pt idx="7">
                  <c:v>Bakery</c:v>
                </c:pt>
                <c:pt idx="8">
                  <c:v>Household</c:v>
                </c:pt>
                <c:pt idx="9">
                  <c:v>Staples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8.24</c:v>
                </c:pt>
                <c:pt idx="1">
                  <c:v>7.89</c:v>
                </c:pt>
                <c:pt idx="2">
                  <c:v>7.81</c:v>
                </c:pt>
                <c:pt idx="3">
                  <c:v>7.79</c:v>
                </c:pt>
                <c:pt idx="4">
                  <c:v>7.79</c:v>
                </c:pt>
                <c:pt idx="5">
                  <c:v>7.76</c:v>
                </c:pt>
                <c:pt idx="6">
                  <c:v>7.65</c:v>
                </c:pt>
                <c:pt idx="7">
                  <c:v>7.65</c:v>
                </c:pt>
                <c:pt idx="8">
                  <c:v>7.59</c:v>
                </c:pt>
                <c:pt idx="9">
                  <c:v>7.38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01-4768-A04C-2F50CE1A7F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3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591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C831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114800"/>
            <a:ext cx="3291840" cy="3291840"/>
          </a:xfrm>
          <a:prstGeom prst="ellipse">
            <a:avLst/>
          </a:prstGeom>
          <a:solidFill>
            <a:srgbClr val="F8CB4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Analytics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Project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PivotTable-driven Excel dashboard turning 52,000 raw order-item rows into a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interactive view of sales, delivery, customers and payment performance.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257800"/>
            <a:ext cx="2926080" cy="0"/>
          </a:xfrm>
          <a:prstGeom prst="line">
            <a:avLst/>
          </a:prstGeom>
          <a:noFill/>
          <a:ln w="25400">
            <a:solidFill>
              <a:srgbClr val="F8CB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440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2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order-item rows  |  23 fields  |  Jan 2024 – Dec 2025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Analytics &amp; Dashboard Design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06040" cy="329184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quick-commerce business</a:t>
            </a:r>
            <a:endParaRPr lang="en-US" sz="27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generating data faster than</a:t>
            </a:r>
            <a:endParaRPr lang="en-US" sz="27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could be understood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is a quick-commerce grocery delivery platform operating across multiple Indian cities, generating thousands of orders daily across categories such as fruits &amp; vegetables, dairy, snacks, beverages, personal care, household items, staples, baby care, frozen food and bakery.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525780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wanted a single, interactive dashboard that gives leadership visibility into sales, customer behaviour, delivery performance and payment trends — without waiting on manual report pulls.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0515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5F4F0"/>
          </a:solidFill>
          <a:ln/>
        </p:spPr>
      </p:sp>
      <p:sp>
        <p:nvSpPr>
          <p:cNvPr id="8" name="Shape 6"/>
          <p:cNvSpPr/>
          <p:nvPr/>
        </p:nvSpPr>
        <p:spPr>
          <a:xfrm>
            <a:off x="6565392" y="138074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/>
        </p:spPr>
      </p:sp>
      <p:sp>
        <p:nvSpPr>
          <p:cNvPr id="9" name="Text 7"/>
          <p:cNvSpPr/>
          <p:nvPr/>
        </p:nvSpPr>
        <p:spPr>
          <a:xfrm>
            <a:off x="6565392" y="138074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69480" y="117957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69480" y="16550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 tracked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4231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5F4F0"/>
          </a:solidFill>
          <a:ln/>
        </p:spPr>
      </p:sp>
      <p:sp>
        <p:nvSpPr>
          <p:cNvPr id="13" name="Shape 11"/>
          <p:cNvSpPr/>
          <p:nvPr/>
        </p:nvSpPr>
        <p:spPr>
          <a:xfrm>
            <a:off x="6565392" y="275234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/>
        </p:spPr>
      </p:sp>
      <p:sp>
        <p:nvSpPr>
          <p:cNvPr id="14" name="Text 12"/>
          <p:cNvSpPr/>
          <p:nvPr/>
        </p:nvSpPr>
        <p:spPr>
          <a:xfrm>
            <a:off x="6565392" y="275234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69480" y="255117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269480" y="30266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 across India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7947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5F4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565392" y="412394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5392" y="412394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69480" y="392277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299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269480" y="43982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dark stores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51663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5F4F0"/>
          </a:solidFill>
          <a:ln/>
        </p:spPr>
      </p:sp>
      <p:sp>
        <p:nvSpPr>
          <p:cNvPr id="23" name="Shape 21"/>
          <p:cNvSpPr/>
          <p:nvPr/>
        </p:nvSpPr>
        <p:spPr>
          <a:xfrm>
            <a:off x="6565392" y="549554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/>
        </p:spPr>
      </p:sp>
      <p:sp>
        <p:nvSpPr>
          <p:cNvPr id="24" name="Text 22"/>
          <p:cNvSpPr/>
          <p:nvPr/>
        </p:nvSpPr>
        <p:spPr>
          <a:xfrm>
            <a:off x="6565392" y="549554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69480" y="529437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2024–25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269480" y="57698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data window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ORDER ANALYTICS  |  EXCEL DASHBOARD PROJECT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58084" cy="329184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580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and marketing were reviewing</a:t>
            </a:r>
            <a:endParaRPr lang="en-US" sz="24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data manually — with no consolidated</a:t>
            </a:r>
            <a:endParaRPr lang="en-US" sz="24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of what was actually happening.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raw, order-level dataset (50,000+ rows, 20+ columns, 2024–2025), the brief was to design and build an Excel dashboard that lets stakeholders quickly answer six questions: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6262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C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4187952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revenue coming from?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35661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C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44568" y="4187952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cities, categories and products drive the most sales?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35661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6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8339328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C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39328" y="4187952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reliable is delivery?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6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303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C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9808" y="5788152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payment methods are preferred?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43400" y="5166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6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4544568" y="5303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C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44568" y="5788152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customers?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8160" y="5166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6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8339328" y="5303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C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39328" y="5788152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gaps — cancellations, returns, delays, low ratings?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ORDER ANALYTICS  |  EXCEL DASHBOARD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08376" cy="329184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order log to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analysis-ready table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'Orders Data' sheet holds one row per order-item — order &amp; customer identifiers, date/time, demographics, location, store, product/category, quantity, pricing, discount, payment method, delivery performance and customer rating. It was formatted as an Excel Table ('OrdersData') to drive PivotTables directly.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C831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37673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structure — </a:t>
            </a: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fields, converted the range into an Excel Table for dynamic PivotTable ranges.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36168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C831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361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433425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PivotTables — </a:t>
            </a: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pivot per question — revenue by category/city/month, delivery status, payment split, ratings.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92861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C831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928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490118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PivotCharts — </a:t>
            </a: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column, line and donut charts wired directly to each PivotTable.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49554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C831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495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54681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slicers — </a:t>
            </a: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Category, Payment Method and Date slicers connected across every chart for cross-filtering.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1005840"/>
            <a:ext cx="5166360" cy="5029200"/>
          </a:xfrm>
          <a:prstGeom prst="roundRect">
            <a:avLst>
              <a:gd name="adj" fmla="val 1818"/>
            </a:avLst>
          </a:prstGeom>
          <a:solidFill>
            <a:srgbClr val="1B1B1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18288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52,000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0" y="2194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order-item rows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0" y="2487168"/>
            <a:ext cx="443484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5146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58000" y="2880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/ fields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0" y="3172968"/>
            <a:ext cx="443484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2004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58000" y="3566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0" y="3858768"/>
            <a:ext cx="443484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38862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58000" y="4251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 •  299 stores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0" y="4544568"/>
            <a:ext cx="443484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45720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858000" y="4937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858000" y="5230368"/>
            <a:ext cx="443484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52578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2024 – Dec 2025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858000" y="5623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range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ORDER ANALYTICS  |  EXCEL DASHBOARD PROJECT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07792" cy="329184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07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objectives shaped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got built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card, chart and slicer on the dashboard maps back to one of these design objectives.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591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8CB46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27685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— Total Orders, Revenue, AOV, Cancellation/Return 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8CB46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843784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order trend over time (monthly line chart)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93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8CB46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41071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and area-wise sales performance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8CB46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9776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product revenue contribution (Pareto view)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2686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8CB46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54456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distribution (donut chart)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8CB46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511149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— avg time, delivered vs cancelled vs returned vs delayed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3591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8CB46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227685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— age group and gender split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9260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8CB46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2843784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impact — revenue lost to discounts, by category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3493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8CB46"/>
          </a:solidFill>
          <a:ln/>
        </p:spPr>
      </p:sp>
      <p:sp>
        <p:nvSpPr>
          <p:cNvPr id="23" name="Text 21"/>
          <p:cNvSpPr/>
          <p:nvPr/>
        </p:nvSpPr>
        <p:spPr>
          <a:xfrm>
            <a:off x="6510528" y="341071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rating distribution vs delivery time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0599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8CB46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39776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Store-wise performance ranking (top / bottom by revenue &amp; rating)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462686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8CB46"/>
          </a:solidFill>
          <a:ln/>
        </p:spPr>
      </p:sp>
      <p:sp>
        <p:nvSpPr>
          <p:cNvPr id="27" name="Text 25"/>
          <p:cNvSpPr/>
          <p:nvPr/>
        </p:nvSpPr>
        <p:spPr>
          <a:xfrm>
            <a:off x="6510528" y="454456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Category, Payment Method and Date slicers for full interactivity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ORDER ANALYTICS  |  EXCEL DASHBOARD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9544" cy="329184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09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KPI SNAPSHOT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numbers,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2323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73152" cy="1691640"/>
          </a:xfrm>
          <a:prstGeom prst="roundRect">
            <a:avLst/>
          </a:prstGeom>
          <a:solidFill>
            <a:srgbClr val="F8CB4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048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52,000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21488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232323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2148840"/>
            <a:ext cx="73152" cy="1691640"/>
          </a:xfrm>
          <a:prstGeom prst="roundRect">
            <a:avLst/>
          </a:prstGeom>
          <a:solidFill>
            <a:srgbClr val="F8CB46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4048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₹9.71 Cr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1488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232323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2148840"/>
            <a:ext cx="73152" cy="1691640"/>
          </a:xfrm>
          <a:prstGeom prst="roundRect">
            <a:avLst/>
          </a:prstGeom>
          <a:solidFill>
            <a:srgbClr val="F8CB46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4048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₹1,867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355080" y="31089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15400" y="21488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232323"/>
          </a:solidFill>
          <a:ln/>
        </p:spPr>
      </p:sp>
      <p:sp>
        <p:nvSpPr>
          <p:cNvPr id="18" name="Shape 16"/>
          <p:cNvSpPr/>
          <p:nvPr/>
        </p:nvSpPr>
        <p:spPr>
          <a:xfrm>
            <a:off x="8915400" y="2148840"/>
            <a:ext cx="73152" cy="1691640"/>
          </a:xfrm>
          <a:prstGeom prst="roundRect">
            <a:avLst/>
          </a:prstGeom>
          <a:solidFill>
            <a:srgbClr val="F8CB4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240487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43.0%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144000" y="31089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an issue*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232323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023360"/>
            <a:ext cx="73152" cy="1691640"/>
          </a:xfrm>
          <a:prstGeom prst="roundRect">
            <a:avLst/>
          </a:prstGeom>
          <a:solidFill>
            <a:srgbClr val="0C831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793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26.0 min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777240" y="49834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37560" y="402336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232323"/>
          </a:solidFill>
          <a:ln/>
        </p:spPr>
      </p:sp>
      <p:sp>
        <p:nvSpPr>
          <p:cNvPr id="26" name="Shape 24"/>
          <p:cNvSpPr/>
          <p:nvPr/>
        </p:nvSpPr>
        <p:spPr>
          <a:xfrm>
            <a:off x="3337560" y="4023360"/>
            <a:ext cx="73152" cy="1691640"/>
          </a:xfrm>
          <a:prstGeom prst="roundRect">
            <a:avLst/>
          </a:prstGeom>
          <a:solidFill>
            <a:srgbClr val="0C831F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42793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4.14 / 5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3566160" y="49834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 (delivered)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402336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232323"/>
          </a:solidFill>
          <a:ln/>
        </p:spPr>
      </p:sp>
      <p:sp>
        <p:nvSpPr>
          <p:cNvPr id="30" name="Shape 28"/>
          <p:cNvSpPr/>
          <p:nvPr/>
        </p:nvSpPr>
        <p:spPr>
          <a:xfrm>
            <a:off x="6126480" y="4023360"/>
            <a:ext cx="73152" cy="1691640"/>
          </a:xfrm>
          <a:prstGeom prst="roundRect">
            <a:avLst/>
          </a:prstGeom>
          <a:solidFill>
            <a:srgbClr val="0C831F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2793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7.4%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6355080" y="49834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 Applied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15400" y="402336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232323"/>
          </a:solidFill>
          <a:ln/>
        </p:spPr>
      </p:sp>
      <p:sp>
        <p:nvSpPr>
          <p:cNvPr id="34" name="Shape 32"/>
          <p:cNvSpPr/>
          <p:nvPr/>
        </p:nvSpPr>
        <p:spPr>
          <a:xfrm>
            <a:off x="8915400" y="4023360"/>
            <a:ext cx="73152" cy="1691640"/>
          </a:xfrm>
          <a:prstGeom prst="roundRect">
            <a:avLst/>
          </a:prstGeom>
          <a:solidFill>
            <a:srgbClr val="0C831F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0" y="42793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₹77.6 L</a:t>
            </a:r>
            <a:endParaRPr lang="en-US" sz="2500" dirty="0"/>
          </a:p>
        </p:txBody>
      </p:sp>
      <p:sp>
        <p:nvSpPr>
          <p:cNvPr id="36" name="Text 34"/>
          <p:cNvSpPr/>
          <p:nvPr/>
        </p:nvSpPr>
        <p:spPr>
          <a:xfrm>
            <a:off x="9144000" y="49834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to Discounts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*Cancelled + Returned + Delayed as a share of all orders (Cancelled 14.3% · Returned 14.5% · Delayed 14.3%).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ORDER ANALYTICS  |  EXCEL DASHBOARD PROJECT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461004" cy="329184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4610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CATEGORY REVENUE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balanced across</a:t>
            </a:r>
            <a:endParaRPr lang="en-US" sz="22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— no single Pareto winner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676656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874520"/>
            <a:ext cx="4206240" cy="1298448"/>
          </a:xfrm>
          <a:prstGeom prst="roundRect">
            <a:avLst>
              <a:gd name="adj" fmla="val 5634"/>
            </a:avLst>
          </a:prstGeom>
          <a:solidFill>
            <a:srgbClr val="F5F4F0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80960" y="231343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Care leads at ₹1.00 Cr, just 7.5% above the lowest (Staples).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52360" y="3355848"/>
            <a:ext cx="4206240" cy="1298448"/>
          </a:xfrm>
          <a:prstGeom prst="roundRect">
            <a:avLst>
              <a:gd name="adj" fmla="val 5634"/>
            </a:avLst>
          </a:prstGeom>
          <a:solidFill>
            <a:srgbClr val="F5F4F0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3493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37947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categories sit within a tight ₹93–100 Lakh band — a genuinely diversified basket.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52360" y="4837176"/>
            <a:ext cx="4206240" cy="1298448"/>
          </a:xfrm>
          <a:prstGeom prst="roundRect">
            <a:avLst>
              <a:gd name="adj" fmla="val 5634"/>
            </a:avLst>
          </a:prstGeom>
          <a:solidFill>
            <a:srgbClr val="F5F4F0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0" y="49743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527608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category can be deprioritised; category strategy should focus on margin and delivery quality, not mix-shift.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ORDER ANALYTICS  |  EXCEL DASHBOARD PROJECT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461004" cy="329184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4610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CITY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spread evenly across</a:t>
            </a:r>
            <a:endParaRPr lang="en-US" sz="22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12 cities — Hyderabad leads narrowly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70408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874520"/>
            <a:ext cx="3931920" cy="1298448"/>
          </a:xfrm>
          <a:prstGeom prst="roundRect">
            <a:avLst>
              <a:gd name="adj" fmla="val 5634"/>
            </a:avLst>
          </a:prstGeom>
          <a:solidFill>
            <a:srgbClr val="F5F4F0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SPREAD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955280" y="231343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(Hyderabad, ₹84.2L) to lowest (Surat, ₹78.2L) is a gap of only ~7.6%.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3355848"/>
            <a:ext cx="3931920" cy="1298448"/>
          </a:xfrm>
          <a:prstGeom prst="roundRect">
            <a:avLst>
              <a:gd name="adj" fmla="val 5634"/>
            </a:avLst>
          </a:prstGeom>
          <a:solidFill>
            <a:srgbClr val="F5F4F0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0" y="3493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VS REVENUE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55280" y="37947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counts (4,283–4,421) track revenue closely — no city is over-indexing on high-value baskets.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26680" y="4837176"/>
            <a:ext cx="3931920" cy="1298448"/>
          </a:xfrm>
          <a:prstGeom prst="roundRect">
            <a:avLst>
              <a:gd name="adj" fmla="val 5634"/>
            </a:avLst>
          </a:prstGeom>
          <a:solidFill>
            <a:srgbClr val="F5F4F0"/>
          </a:solidFill>
          <a:ln/>
        </p:spPr>
      </p:sp>
      <p:sp>
        <p:nvSpPr>
          <p:cNvPr id="13" name="Text 10"/>
          <p:cNvSpPr/>
          <p:nvPr/>
        </p:nvSpPr>
        <p:spPr>
          <a:xfrm>
            <a:off x="7955280" y="49743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955280" y="527608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density, not city choice, is likely the bigger revenue lever going forward.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ORDER ANALYTICS  |  EXCEL DASHBOARD PROJECT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62172" cy="329184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621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DELIVERY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 of orders don't end in a clean</a:t>
            </a:r>
            <a:endParaRPr lang="en-US" sz="21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— the biggest gap on the dashboard</a:t>
            </a:r>
            <a:endParaRPr lang="en-US" sz="2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920240"/>
          <a:ext cx="44805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257800" y="1920240"/>
            <a:ext cx="6400800" cy="969264"/>
          </a:xfrm>
          <a:prstGeom prst="roundRect">
            <a:avLst>
              <a:gd name="adj" fmla="val 6604"/>
            </a:avLst>
          </a:prstGeom>
          <a:solidFill>
            <a:srgbClr val="F5F4F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0" y="20116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57% CLEAN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0" y="22860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 are 56.96% of the total — Returned, Delayed and Cancelled each sit near 14.3%, almost evenly split.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57800" y="3035808"/>
            <a:ext cx="6400800" cy="969264"/>
          </a:xfrm>
          <a:prstGeom prst="roundRect">
            <a:avLst>
              <a:gd name="adj" fmla="val 6604"/>
            </a:avLst>
          </a:prstGeom>
          <a:solidFill>
            <a:srgbClr val="F5F4F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0" y="31272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 IS FINE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0" y="340156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time is 26.0 minutes across all 12 cities, with under 0.5-minute city-to-city variance.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57800" y="4151376"/>
            <a:ext cx="6400800" cy="969264"/>
          </a:xfrm>
          <a:prstGeom prst="roundRect">
            <a:avLst>
              <a:gd name="adj" fmla="val 6604"/>
            </a:avLst>
          </a:prstGeom>
          <a:solidFill>
            <a:srgbClr val="F5F4F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0" y="424281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≠ SATISFACTION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0" y="451713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and delivery time show virtually no correlation (r = 0.005) — the issue driving Returned/Cancelled is not delivery speed.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57800" y="5266944"/>
            <a:ext cx="6400800" cy="969264"/>
          </a:xfrm>
          <a:prstGeom prst="roundRect">
            <a:avLst>
              <a:gd name="adj" fmla="val 6604"/>
            </a:avLst>
          </a:prstGeom>
          <a:solidFill>
            <a:srgbClr val="F5F4F0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0" y="535838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RATINGS LAND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0" y="5632704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delivered orders, 79.9% are rated 4 or 5 — the delivered experience itself is strong.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ORDER ANALYTICS  |  EXCEL DASHBOARD PROJECT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11880" cy="329184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PAYMENT &amp; CUSTOMERS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dominates payments; the core</a:t>
            </a:r>
            <a:endParaRPr lang="en-US" sz="22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base is 26–55 years old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92024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172200" y="2194560"/>
          <a:ext cx="5577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6172200" y="50749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split: </a:t>
            </a: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49.0% · Male 48.0% · Other 3.0% of revenue — an almost even split.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172200" y="562356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segment: </a:t>
            </a: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46–55 is the single highest-revenue age band; 26–55 together drive 63.6% of revenue.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ORDER ANALYTICS  |  EXCEL DASHBOARD PROJECT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410712" cy="329184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410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DISCOUNT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₹77.6 Lakh — about 8% of revenue —</a:t>
            </a:r>
            <a:endParaRPr lang="en-US" sz="21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given up to discounts, fairly evenly</a:t>
            </a:r>
            <a:endParaRPr lang="en-US" sz="2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68580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874520"/>
            <a:ext cx="4069080" cy="1298448"/>
          </a:xfrm>
          <a:prstGeom prst="roundRect">
            <a:avLst>
              <a:gd name="adj" fmla="val 5634"/>
            </a:avLst>
          </a:prstGeom>
          <a:solidFill>
            <a:srgbClr val="F5F4F0"/>
          </a:solidFill>
          <a:ln/>
        </p:spPr>
      </p:sp>
      <p:sp>
        <p:nvSpPr>
          <p:cNvPr id="7" name="Text 4"/>
          <p:cNvSpPr/>
          <p:nvPr/>
        </p:nvSpPr>
        <p:spPr>
          <a:xfrm>
            <a:off x="781812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DISCOUNT LOSS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18120" y="231343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₹77.6 Lakh across the dataset, at an average discount of 7.4% per order.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89520" y="3355848"/>
            <a:ext cx="4069080" cy="1298448"/>
          </a:xfrm>
          <a:prstGeom prst="roundRect">
            <a:avLst>
              <a:gd name="adj" fmla="val 5634"/>
            </a:avLst>
          </a:prstGeom>
          <a:solidFill>
            <a:srgbClr val="F5F4F0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3493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TRACKS REVENUE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18120" y="37947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Care gives up the most in absolute terms (₹8.24L) simply because it sells the most — not a disproportionate discount rate.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89520" y="4837176"/>
            <a:ext cx="4069080" cy="1298448"/>
          </a:xfrm>
          <a:prstGeom prst="roundRect">
            <a:avLst>
              <a:gd name="adj" fmla="val 5634"/>
            </a:avLst>
          </a:prstGeom>
          <a:solidFill>
            <a:srgbClr val="F5F4F0"/>
          </a:solidFill>
          <a:ln/>
        </p:spPr>
      </p:sp>
      <p:sp>
        <p:nvSpPr>
          <p:cNvPr id="13" name="Text 10"/>
          <p:cNvSpPr/>
          <p:nvPr/>
        </p:nvSpPr>
        <p:spPr>
          <a:xfrm>
            <a:off x="7818120" y="49743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C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SPREAD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818120" y="527608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299 stores, revenue ranges from ₹2.31L to ₹4.02L — a 1.7x gap between the best and weakest performer, worth investigating store-by-store.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ORDER ANALYTICS  |  EXCEL DASHBOARD PROJECT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9544" cy="329184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09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KEY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tells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leadership, in six lines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23232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7685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portfolio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33472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spread almost evenly across all 10 categories and all 12 cities — growth needs a broad push, not a single bet.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21488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232323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27685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fulfilment is the real gap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633472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43.0% of orders end in Cancelled, Returned or Delayed — far larger than any revenue imbalance.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685032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23232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1304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isn't the problem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169664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(avg 26.0 min) barely correlates with rating (r = 0.005) — investigate order accuracy, stock-outs and refund friction instead.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685032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232323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81304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experience is strong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4169664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 of delivered orders are rated 4★ or 5★, so the fix is in getting more orders to 'Delivered', not improving service quality.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221224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23232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492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customer is 26–55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705856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band drives 63.6% of revenue; gender split is near-even (49% F / 48% M).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5221224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23232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53492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is the default rail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5705856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 of orders pay via UPI, more than COD and cards combined — build payment reliability around it first.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ORDER ANALYTICS  |  EXCEL DASHBOARD PROJECT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857500" cy="329184"/>
          </a:xfrm>
          <a:prstGeom prst="roundRect">
            <a:avLst>
              <a:gd name="adj" fmla="val 50000"/>
            </a:avLst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8575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 worth making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based on the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C831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fulfilment funnel first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478024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43% of orders Cancelled, Returned or Delayed, a root-cause pass on stock-outs, order accuracy and refund flow will move the KPI cards more than any city or category push.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C831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3375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UPI experience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712464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carries ~40% of order volume — payment-failure monitoring and retry flows should be prioritised on this rail before others.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C831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5720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weakest stores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946904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top store (₹4.02L) and bottom store (₹2.31L) is 1.7x — replicate what top-quartile stores do differently in stocking and staffing.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ORDER ANALYTICS  |  EXCEL DSHBOARD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1519</Words>
  <Application>Microsoft Office PowerPoint</Application>
  <PresentationFormat>Widescreen</PresentationFormat>
  <Paragraphs>220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siddhant maruti chikate</cp:lastModifiedBy>
  <cp:revision>2</cp:revision>
  <dcterms:created xsi:type="dcterms:W3CDTF">2026-07-24T09:56:50Z</dcterms:created>
  <dcterms:modified xsi:type="dcterms:W3CDTF">2026-07-27T06:21:56Z</dcterms:modified>
</cp:coreProperties>
</file>